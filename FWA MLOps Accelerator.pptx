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79" r:id="rId3"/>
    <p:sldId id="280" r:id="rId4"/>
    <p:sldId id="283" r:id="rId5"/>
    <p:sldId id="286" r:id="rId6"/>
    <p:sldId id="285" r:id="rId7"/>
    <p:sldId id="264" r:id="rId8"/>
    <p:sldId id="271" r:id="rId9"/>
    <p:sldId id="282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6242" autoAdjust="0"/>
  </p:normalViewPr>
  <p:slideViewPr>
    <p:cSldViewPr snapToGrid="0" snapToObjects="1">
      <p:cViewPr varScale="1">
        <p:scale>
          <a:sx n="56" d="100"/>
          <a:sy n="56" d="100"/>
        </p:scale>
        <p:origin x="6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3580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75109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122033"/>
          </a:solidFill>
          <a:ln w="12700">
            <a:solidFill>
              <a:srgbClr val="1220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" name="Shape 1"/>
          <p:cNvSpPr/>
          <p:nvPr/>
        </p:nvSpPr>
        <p:spPr>
          <a:xfrm>
            <a:off x="7315200" y="914400"/>
            <a:ext cx="1188720" cy="502920"/>
          </a:xfrm>
          <a:prstGeom prst="line">
            <a:avLst/>
          </a:prstGeom>
          <a:noFill/>
          <a:ln w="12700">
            <a:solidFill>
              <a:srgbClr val="7257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8503920" y="1417320"/>
            <a:ext cx="1463040" cy="0"/>
          </a:xfrm>
          <a:prstGeom prst="line">
            <a:avLst/>
          </a:prstGeom>
          <a:noFill/>
          <a:ln w="12700">
            <a:solidFill>
              <a:srgbClr val="3AD7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9966960" y="960120"/>
            <a:ext cx="822960" cy="1005840"/>
          </a:xfrm>
          <a:prstGeom prst="line">
            <a:avLst/>
          </a:prstGeom>
          <a:noFill/>
          <a:ln w="12700">
            <a:solidFill>
              <a:srgbClr val="7257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10789920" y="1965960"/>
            <a:ext cx="0" cy="822960"/>
          </a:xfrm>
          <a:prstGeom prst="line">
            <a:avLst/>
          </a:prstGeom>
          <a:noFill/>
          <a:ln w="12700">
            <a:solidFill>
              <a:srgbClr val="3AD7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9418320" y="2788920"/>
            <a:ext cx="0" cy="0"/>
          </a:xfrm>
          <a:prstGeom prst="line">
            <a:avLst/>
          </a:prstGeom>
          <a:noFill/>
          <a:ln w="12700">
            <a:solidFill>
              <a:srgbClr val="7257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7955280" y="2478024"/>
            <a:ext cx="0" cy="1188720"/>
          </a:xfrm>
          <a:prstGeom prst="line">
            <a:avLst/>
          </a:prstGeom>
          <a:noFill/>
          <a:ln w="12700">
            <a:solidFill>
              <a:srgbClr val="3AD7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7132320" y="3703320"/>
            <a:ext cx="1645920" cy="365760"/>
          </a:xfrm>
          <a:prstGeom prst="line">
            <a:avLst/>
          </a:prstGeom>
          <a:noFill/>
          <a:ln w="12700">
            <a:solidFill>
              <a:srgbClr val="7257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>
            <a:off x="8778240" y="4069080"/>
            <a:ext cx="1783080" cy="0"/>
          </a:xfrm>
          <a:prstGeom prst="line">
            <a:avLst/>
          </a:prstGeom>
          <a:noFill/>
          <a:ln w="12700">
            <a:solidFill>
              <a:srgbClr val="3AD7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10561320" y="3749040"/>
            <a:ext cx="594360" cy="1097280"/>
          </a:xfrm>
          <a:prstGeom prst="line">
            <a:avLst/>
          </a:prstGeom>
          <a:noFill/>
          <a:ln w="12700">
            <a:solidFill>
              <a:srgbClr val="7257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7232904" y="832104"/>
            <a:ext cx="164592" cy="16459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8421624" y="1335024"/>
            <a:ext cx="164592" cy="164592"/>
          </a:xfrm>
          <a:prstGeom prst="ellipse">
            <a:avLst/>
          </a:prstGeom>
          <a:solidFill>
            <a:srgbClr val="3AD7FF"/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9884664" y="877824"/>
            <a:ext cx="164592" cy="16459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10707624" y="1883664"/>
            <a:ext cx="164592" cy="164592"/>
          </a:xfrm>
          <a:prstGeom prst="ellipse">
            <a:avLst/>
          </a:prstGeom>
          <a:solidFill>
            <a:srgbClr val="3AD7FF"/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Shape 14"/>
          <p:cNvSpPr/>
          <p:nvPr/>
        </p:nvSpPr>
        <p:spPr>
          <a:xfrm>
            <a:off x="9336024" y="2706624"/>
            <a:ext cx="164592" cy="16459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7872984" y="2432304"/>
            <a:ext cx="164592" cy="164592"/>
          </a:xfrm>
          <a:prstGeom prst="ellipse">
            <a:avLst/>
          </a:prstGeom>
          <a:solidFill>
            <a:srgbClr val="3AD7FF"/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Shape 16"/>
          <p:cNvSpPr/>
          <p:nvPr/>
        </p:nvSpPr>
        <p:spPr>
          <a:xfrm>
            <a:off x="7050024" y="3621024"/>
            <a:ext cx="164592" cy="16459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Shape 17"/>
          <p:cNvSpPr/>
          <p:nvPr/>
        </p:nvSpPr>
        <p:spPr>
          <a:xfrm>
            <a:off x="8695944" y="3986784"/>
            <a:ext cx="164592" cy="164592"/>
          </a:xfrm>
          <a:prstGeom prst="ellipse">
            <a:avLst/>
          </a:prstGeom>
          <a:solidFill>
            <a:srgbClr val="3AD7FF"/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Shape 18"/>
          <p:cNvSpPr/>
          <p:nvPr/>
        </p:nvSpPr>
        <p:spPr>
          <a:xfrm>
            <a:off x="10479024" y="3666744"/>
            <a:ext cx="164592" cy="16459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Shape 19"/>
          <p:cNvSpPr/>
          <p:nvPr/>
        </p:nvSpPr>
        <p:spPr>
          <a:xfrm>
            <a:off x="11073384" y="4764024"/>
            <a:ext cx="164592" cy="164592"/>
          </a:xfrm>
          <a:prstGeom prst="ellipse">
            <a:avLst/>
          </a:prstGeom>
          <a:solidFill>
            <a:srgbClr val="3AD7FF"/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713232" y="759076"/>
            <a:ext cx="6126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zh-CN" altLang="zh-CN" sz="4400" dirty="0">
                <a:solidFill>
                  <a:schemeClr val="bg1"/>
                </a:solidFill>
              </a:rPr>
              <a:t>FWA MLOps Accelerator</a:t>
            </a:r>
            <a:endParaRPr lang="en-US" altLang="zh-CN" sz="4400" dirty="0">
              <a:solidFill>
                <a:schemeClr val="bg1"/>
              </a:solidFill>
            </a:endParaRPr>
          </a:p>
          <a:p>
            <a:r>
              <a:rPr lang="en-US" sz="1700" dirty="0">
                <a:solidFill>
                  <a:schemeClr val="bg1"/>
                </a:solidFill>
              </a:rPr>
              <a:t>- Data: Synthetic eye disease claims from PCP in TX</a:t>
            </a:r>
          </a:p>
        </p:txBody>
      </p:sp>
      <p:sp>
        <p:nvSpPr>
          <p:cNvPr id="23" name="Text 21"/>
          <p:cNvSpPr/>
          <p:nvPr/>
        </p:nvSpPr>
        <p:spPr>
          <a:xfrm>
            <a:off x="694944" y="308152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zh-CN" sz="1600" dirty="0">
                <a:solidFill>
                  <a:schemeClr val="bg1"/>
                </a:solidFill>
              </a:rPr>
              <a:t>A reusable</a:t>
            </a:r>
            <a:r>
              <a:rPr lang="en-CA" altLang="zh-CN" sz="1600" dirty="0">
                <a:solidFill>
                  <a:schemeClr val="bg1"/>
                </a:solidFill>
              </a:rPr>
              <a:t> </a:t>
            </a:r>
            <a:r>
              <a:rPr lang="zh-CN" altLang="zh-CN" sz="1600" dirty="0">
                <a:solidFill>
                  <a:schemeClr val="bg1"/>
                </a:solidFill>
              </a:rPr>
              <a:t>framework for end-to-end model </a:t>
            </a:r>
            <a:endParaRPr lang="en-CA" altLang="zh-CN" sz="1600" dirty="0">
              <a:solidFill>
                <a:schemeClr val="bg1"/>
              </a:solidFill>
            </a:endParaRPr>
          </a:p>
          <a:p>
            <a:r>
              <a:rPr lang="zh-CN" altLang="zh-CN" sz="1600" dirty="0">
                <a:solidFill>
                  <a:schemeClr val="bg1"/>
                </a:solidFill>
              </a:rPr>
              <a:t>development, deployment, monitoring, and retraining</a:t>
            </a:r>
            <a:r>
              <a:rPr lang="en-CA" altLang="zh-CN" sz="1600" dirty="0">
                <a:solidFill>
                  <a:schemeClr val="bg1"/>
                </a:solidFill>
              </a:rPr>
              <a:t> for</a:t>
            </a:r>
            <a:r>
              <a:rPr lang="zh-CN" altLang="en-US" sz="1600" dirty="0">
                <a:solidFill>
                  <a:schemeClr val="bg1"/>
                </a:solidFill>
              </a:rPr>
              <a:t> </a:t>
            </a:r>
            <a:endParaRPr lang="en-CA" altLang="zh-CN" sz="1600" dirty="0">
              <a:solidFill>
                <a:schemeClr val="bg1"/>
              </a:solidFill>
            </a:endParaRPr>
          </a:p>
          <a:p>
            <a:r>
              <a:rPr lang="en-CA" altLang="zh-CN" sz="1600" dirty="0">
                <a:solidFill>
                  <a:schemeClr val="bg1"/>
                </a:solidFill>
              </a:rPr>
              <a:t>peer-provider</a:t>
            </a:r>
            <a:r>
              <a:rPr lang="zh-CN" altLang="en-US" sz="1600" dirty="0">
                <a:solidFill>
                  <a:schemeClr val="bg1"/>
                </a:solidFill>
              </a:rPr>
              <a:t> </a:t>
            </a:r>
            <a:r>
              <a:rPr lang="en-CA" altLang="zh-CN" sz="1600" dirty="0">
                <a:solidFill>
                  <a:schemeClr val="bg1"/>
                </a:solidFill>
              </a:rPr>
              <a:t>comparisons</a:t>
            </a:r>
            <a:r>
              <a:rPr lang="zh-CN" altLang="zh-CN" sz="1600" dirty="0">
                <a:solidFill>
                  <a:schemeClr val="bg1"/>
                </a:solidFill>
              </a:rPr>
              <a:t>.</a:t>
            </a:r>
            <a:endParaRPr lang="en-US" altLang="zh-CN" sz="1600" dirty="0">
              <a:solidFill>
                <a:schemeClr val="bg1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88848" y="3621024"/>
            <a:ext cx="6217920" cy="0"/>
          </a:xfrm>
          <a:prstGeom prst="line">
            <a:avLst/>
          </a:prstGeom>
          <a:noFill/>
          <a:ln w="12700">
            <a:solidFill>
              <a:srgbClr val="3AD7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694944" y="5532120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T</a:t>
            </a:r>
            <a:r>
              <a:rPr lang="en-US" altLang="zh-CN" sz="1600" dirty="0">
                <a:solidFill>
                  <a:srgbClr val="FFFFFF"/>
                </a:solidFill>
              </a:rPr>
              <a:t>anya (</a:t>
            </a:r>
            <a:r>
              <a:rPr lang="en-US" altLang="zh-CN" sz="1600" dirty="0" err="1">
                <a:solidFill>
                  <a:srgbClr val="FFFFFF"/>
                </a:solidFill>
              </a:rPr>
              <a:t>Tanying</a:t>
            </a:r>
            <a:r>
              <a:rPr lang="en-US" altLang="zh-CN" sz="1600" dirty="0">
                <a:solidFill>
                  <a:srgbClr val="FFFFFF"/>
                </a:solidFill>
              </a:rPr>
              <a:t>)</a:t>
            </a:r>
            <a:r>
              <a:rPr lang="en-US" sz="1600" dirty="0">
                <a:solidFill>
                  <a:srgbClr val="FFFFFF"/>
                </a:solidFill>
              </a:rPr>
              <a:t> Wang</a:t>
            </a:r>
            <a:endParaRPr lang="en-US" sz="1600" dirty="0"/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EFDFF43F-FF80-092D-9DB5-5035F5FEE103}"/>
              </a:ext>
            </a:extLst>
          </p:cNvPr>
          <p:cNvSpPr/>
          <p:nvPr/>
        </p:nvSpPr>
        <p:spPr>
          <a:xfrm>
            <a:off x="694944" y="6076063"/>
            <a:ext cx="7242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1600" dirty="0" err="1">
                <a:solidFill>
                  <a:schemeClr val="bg1"/>
                </a:solidFill>
              </a:rPr>
              <a:t>Github</a:t>
            </a:r>
            <a:r>
              <a:rPr lang="en-US" altLang="zh-CN" sz="1600" dirty="0">
                <a:solidFill>
                  <a:schemeClr val="bg1"/>
                </a:solidFill>
              </a:rPr>
              <a:t> repo: </a:t>
            </a:r>
          </a:p>
          <a:p>
            <a:r>
              <a:rPr lang="en-US" altLang="zh-CN" sz="1600" dirty="0">
                <a:solidFill>
                  <a:schemeClr val="bg1"/>
                </a:solidFill>
              </a:rPr>
              <a:t>https://github.com/tanyaw0923/GCP-FWA-MLOps-Accelerator/tree/main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F30DE18-A28E-D401-B5DA-F4B5CB07E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FABCC7F-D7BA-9162-4775-705A60215DE2}"/>
              </a:ext>
            </a:extLst>
          </p:cNvPr>
          <p:cNvSpPr/>
          <p:nvPr/>
        </p:nvSpPr>
        <p:spPr>
          <a:xfrm>
            <a:off x="3239" y="1719943"/>
            <a:ext cx="1451092" cy="3474720"/>
          </a:xfrm>
          <a:prstGeom prst="rect">
            <a:avLst/>
          </a:prstGeom>
          <a:noFill/>
          <a:ln w="38100">
            <a:solidFill>
              <a:srgbClr val="EE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05825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86BB2B-47FA-36BA-2100-D40029AE4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531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F412352-9710-E3E0-090E-FE32C7C2B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719455" cy="6858000"/>
          </a:xfrm>
          <a:prstGeom prst="rect">
            <a:avLst/>
          </a:prstGeom>
        </p:spPr>
      </p:pic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03F6A1A5-53DB-413D-4880-48AEAA2B69D6}"/>
              </a:ext>
            </a:extLst>
          </p:cNvPr>
          <p:cNvCxnSpPr>
            <a:cxnSpLocks/>
          </p:cNvCxnSpPr>
          <p:nvPr/>
        </p:nvCxnSpPr>
        <p:spPr>
          <a:xfrm>
            <a:off x="4474464" y="274320"/>
            <a:ext cx="24993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0BE70FAB-A312-640E-4CDC-4DCCFE67534B}"/>
              </a:ext>
            </a:extLst>
          </p:cNvPr>
          <p:cNvSpPr txBox="1"/>
          <p:nvPr/>
        </p:nvSpPr>
        <p:spPr>
          <a:xfrm>
            <a:off x="7193280" y="195869"/>
            <a:ext cx="392139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Data quality alert</a:t>
            </a:r>
          </a:p>
          <a:p>
            <a:r>
              <a:rPr lang="zh-CN" altLang="en-US" sz="1200" dirty="0"/>
              <a:t>       OR</a:t>
            </a:r>
          </a:p>
          <a:p>
            <a:r>
              <a:rPr lang="zh-CN" altLang="en-US" sz="1200" dirty="0"/>
              <a:t>Feature drift alert</a:t>
            </a:r>
          </a:p>
          <a:p>
            <a:r>
              <a:rPr lang="zh-CN" altLang="en-US" sz="1200" dirty="0"/>
              <a:t>       OR</a:t>
            </a:r>
          </a:p>
          <a:p>
            <a:r>
              <a:rPr lang="zh-CN" altLang="en-US" sz="1200" dirty="0"/>
              <a:t>Prediction drift alert</a:t>
            </a:r>
          </a:p>
          <a:p>
            <a:r>
              <a:rPr lang="zh-CN" altLang="en-US" sz="1200" dirty="0"/>
              <a:t>       OR</a:t>
            </a:r>
          </a:p>
          <a:p>
            <a:r>
              <a:rPr lang="zh-CN" altLang="en-US" sz="1200" dirty="0"/>
              <a:t>Performance degradation alert</a:t>
            </a:r>
            <a:endParaRPr lang="en-US" altLang="zh-CN" sz="1200" dirty="0"/>
          </a:p>
          <a:p>
            <a:endParaRPr lang="en-US" altLang="zh-CN" sz="1200" dirty="0"/>
          </a:p>
          <a:p>
            <a:r>
              <a:rPr lang="zh-CN" altLang="en-US" sz="1200" dirty="0"/>
              <a:t>New monthly data</a:t>
            </a:r>
          </a:p>
          <a:p>
            <a:r>
              <a:rPr lang="zh-CN" altLang="en-US" sz="1200" dirty="0"/>
              <a:t>       OR</a:t>
            </a:r>
          </a:p>
          <a:p>
            <a:r>
              <a:rPr lang="zh-CN" altLang="en-US" sz="1200" dirty="0"/>
              <a:t>Feature configuration changed</a:t>
            </a:r>
          </a:p>
          <a:p>
            <a:r>
              <a:rPr lang="zh-CN" altLang="en-US" sz="1200" dirty="0"/>
              <a:t>       OR</a:t>
            </a:r>
          </a:p>
          <a:p>
            <a:r>
              <a:rPr lang="zh-CN" altLang="en-US" sz="1200" dirty="0"/>
              <a:t>Model configuration changed</a:t>
            </a:r>
          </a:p>
          <a:p>
            <a:r>
              <a:rPr lang="zh-CN" altLang="en-US" sz="1200" dirty="0"/>
              <a:t>         ↓</a:t>
            </a:r>
          </a:p>
          <a:p>
            <a:r>
              <a:rPr lang="zh-CN" altLang="en-US" sz="1200" dirty="0"/>
              <a:t>Should Retrain = True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423281F9-087D-A940-1022-EE2A86F22148}"/>
              </a:ext>
            </a:extLst>
          </p:cNvPr>
          <p:cNvCxnSpPr>
            <a:cxnSpLocks/>
          </p:cNvCxnSpPr>
          <p:nvPr/>
        </p:nvCxnSpPr>
        <p:spPr>
          <a:xfrm>
            <a:off x="7272528" y="1603248"/>
            <a:ext cx="22494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右大括号 10">
            <a:extLst>
              <a:ext uri="{FF2B5EF4-FFF2-40B4-BE49-F238E27FC236}">
                <a16:creationId xmlns:a16="http://schemas.microsoft.com/office/drawing/2014/main" id="{45909572-4D93-5CBF-CB6D-B7B2E12791EE}"/>
              </a:ext>
            </a:extLst>
          </p:cNvPr>
          <p:cNvSpPr/>
          <p:nvPr/>
        </p:nvSpPr>
        <p:spPr>
          <a:xfrm>
            <a:off x="9579864" y="268623"/>
            <a:ext cx="323088" cy="126187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右大括号 12">
            <a:extLst>
              <a:ext uri="{FF2B5EF4-FFF2-40B4-BE49-F238E27FC236}">
                <a16:creationId xmlns:a16="http://schemas.microsoft.com/office/drawing/2014/main" id="{F8398535-587C-8B56-020A-F8EB933E0FC3}"/>
              </a:ext>
            </a:extLst>
          </p:cNvPr>
          <p:cNvSpPr/>
          <p:nvPr/>
        </p:nvSpPr>
        <p:spPr>
          <a:xfrm>
            <a:off x="9582912" y="1748756"/>
            <a:ext cx="323088" cy="126187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EF07098-C09E-07A1-AC18-6FCFC3D57F1F}"/>
              </a:ext>
            </a:extLst>
          </p:cNvPr>
          <p:cNvSpPr txBox="1"/>
          <p:nvPr/>
        </p:nvSpPr>
        <p:spPr>
          <a:xfrm>
            <a:off x="9991259" y="761059"/>
            <a:ext cx="13428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Model Monitoring</a:t>
            </a:r>
            <a:endParaRPr lang="zh-CN" altLang="en-US" sz="12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040E9F1-8F1C-B5F6-B92A-F74EE895AFA7}"/>
              </a:ext>
            </a:extLst>
          </p:cNvPr>
          <p:cNvSpPr txBox="1"/>
          <p:nvPr/>
        </p:nvSpPr>
        <p:spPr>
          <a:xfrm>
            <a:off x="9991259" y="2241192"/>
            <a:ext cx="13013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Three Use Cases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500100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5E402B16-5FF3-3896-1BBA-EC4830883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47F49C21-AEEB-4678-A082-637887212790}"/>
              </a:ext>
            </a:extLst>
          </p:cNvPr>
          <p:cNvSpPr/>
          <p:nvPr/>
        </p:nvSpPr>
        <p:spPr>
          <a:xfrm>
            <a:off x="3450336" y="3627120"/>
            <a:ext cx="1786128" cy="1676400"/>
          </a:xfrm>
          <a:prstGeom prst="rect">
            <a:avLst/>
          </a:prstGeom>
          <a:noFill/>
          <a:ln w="190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E3569F2-A538-E312-D580-94ED572D2410}"/>
              </a:ext>
            </a:extLst>
          </p:cNvPr>
          <p:cNvSpPr/>
          <p:nvPr/>
        </p:nvSpPr>
        <p:spPr>
          <a:xfrm>
            <a:off x="9549384" y="3627120"/>
            <a:ext cx="1786128" cy="1676400"/>
          </a:xfrm>
          <a:prstGeom prst="rect">
            <a:avLst/>
          </a:prstGeom>
          <a:noFill/>
          <a:ln w="190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3516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94684816-34B0-CAC0-4205-A86E68800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88" y="563556"/>
            <a:ext cx="10174224" cy="5922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0296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13232" y="2363724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Thank you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713232" y="4782312"/>
            <a:ext cx="2926080" cy="0"/>
          </a:xfrm>
          <a:prstGeom prst="line">
            <a:avLst/>
          </a:prstGeom>
          <a:noFill/>
          <a:ln w="12700">
            <a:solidFill>
              <a:srgbClr val="3AD7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713232" y="5271741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Tanya (</a:t>
            </a:r>
            <a:r>
              <a:rPr lang="en-US" sz="1500" dirty="0" err="1">
                <a:solidFill>
                  <a:srgbClr val="FFFFFF"/>
                </a:solidFill>
              </a:rPr>
              <a:t>Tanying</a:t>
            </a:r>
            <a:r>
              <a:rPr lang="en-US" sz="1500" dirty="0">
                <a:solidFill>
                  <a:srgbClr val="FFFFFF"/>
                </a:solidFill>
              </a:rPr>
              <a:t>) Wang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Data Scientist / ML Engineer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Feedback: tanyaw0923@gmail.com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498080" y="1005840"/>
            <a:ext cx="1828800" cy="274320"/>
          </a:xfrm>
          <a:prstGeom prst="line">
            <a:avLst/>
          </a:prstGeom>
          <a:noFill/>
          <a:ln w="12700">
            <a:solidFill>
              <a:srgbClr val="7257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7397496" y="905256"/>
            <a:ext cx="201168" cy="201168"/>
          </a:xfrm>
          <a:prstGeom prst="ellipse">
            <a:avLst/>
          </a:prstGeom>
          <a:solidFill>
            <a:srgbClr val="3AD7FF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9326880" y="1280160"/>
            <a:ext cx="1371600" cy="1280160"/>
          </a:xfrm>
          <a:prstGeom prst="line">
            <a:avLst/>
          </a:prstGeom>
          <a:noFill/>
          <a:ln w="12700">
            <a:solidFill>
              <a:srgbClr val="3AD7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9226296" y="1179576"/>
            <a:ext cx="201168" cy="20116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 flipH="1">
            <a:off x="9692640" y="2560320"/>
            <a:ext cx="1005840" cy="1737360"/>
          </a:xfrm>
          <a:prstGeom prst="line">
            <a:avLst/>
          </a:prstGeom>
          <a:noFill/>
          <a:ln w="12700">
            <a:solidFill>
              <a:srgbClr val="7257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10597896" y="2459736"/>
            <a:ext cx="201168" cy="201168"/>
          </a:xfrm>
          <a:prstGeom prst="ellipse">
            <a:avLst/>
          </a:prstGeom>
          <a:solidFill>
            <a:srgbClr val="3AD7FF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9592056" y="4197096"/>
            <a:ext cx="201168" cy="20116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Shape 16"/>
          <p:cNvSpPr/>
          <p:nvPr/>
        </p:nvSpPr>
        <p:spPr>
          <a:xfrm>
            <a:off x="7818120" y="4526280"/>
            <a:ext cx="0" cy="0"/>
          </a:xfrm>
          <a:prstGeom prst="line">
            <a:avLst/>
          </a:prstGeom>
          <a:noFill/>
          <a:ln w="12700">
            <a:solidFill>
              <a:srgbClr val="7257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0" name="Shape 18"/>
          <p:cNvSpPr/>
          <p:nvPr/>
        </p:nvSpPr>
        <p:spPr>
          <a:xfrm>
            <a:off x="6757416" y="2825496"/>
            <a:ext cx="201168" cy="20116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Shape 10">
            <a:extLst>
              <a:ext uri="{FF2B5EF4-FFF2-40B4-BE49-F238E27FC236}">
                <a16:creationId xmlns:a16="http://schemas.microsoft.com/office/drawing/2014/main" id="{C690B586-EE16-1A54-B212-25F0567C83BF}"/>
              </a:ext>
            </a:extLst>
          </p:cNvPr>
          <p:cNvSpPr/>
          <p:nvPr/>
        </p:nvSpPr>
        <p:spPr>
          <a:xfrm flipH="1">
            <a:off x="7818119" y="4297680"/>
            <a:ext cx="1828795" cy="228600"/>
          </a:xfrm>
          <a:prstGeom prst="line">
            <a:avLst/>
          </a:prstGeom>
          <a:noFill/>
          <a:ln w="12700">
            <a:solidFill>
              <a:srgbClr val="3AD7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4" name="Shape 8">
            <a:extLst>
              <a:ext uri="{FF2B5EF4-FFF2-40B4-BE49-F238E27FC236}">
                <a16:creationId xmlns:a16="http://schemas.microsoft.com/office/drawing/2014/main" id="{1BF6C555-B1E1-FCB3-9248-7E63B85F7007}"/>
              </a:ext>
            </a:extLst>
          </p:cNvPr>
          <p:cNvSpPr/>
          <p:nvPr/>
        </p:nvSpPr>
        <p:spPr>
          <a:xfrm>
            <a:off x="6912863" y="2944368"/>
            <a:ext cx="882393" cy="1600793"/>
          </a:xfrm>
          <a:prstGeom prst="line">
            <a:avLst/>
          </a:prstGeom>
          <a:noFill/>
          <a:ln w="12700">
            <a:solidFill>
              <a:srgbClr val="7257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19" name="Shape 17"/>
          <p:cNvSpPr/>
          <p:nvPr/>
        </p:nvSpPr>
        <p:spPr>
          <a:xfrm>
            <a:off x="7717536" y="4425696"/>
            <a:ext cx="201168" cy="201168"/>
          </a:xfrm>
          <a:prstGeom prst="ellipse">
            <a:avLst/>
          </a:prstGeom>
          <a:solidFill>
            <a:srgbClr val="3AD7FF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0FA5798-F11F-753C-D7E2-DC58CD74F1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892" y="1274165"/>
            <a:ext cx="4376959" cy="4699416"/>
          </a:xfrm>
          <a:prstGeom prst="rect">
            <a:avLst/>
          </a:prstGeom>
        </p:spPr>
      </p:pic>
      <p:sp>
        <p:nvSpPr>
          <p:cNvPr id="4" name="矩形: 圆角 3">
            <a:extLst>
              <a:ext uri="{FF2B5EF4-FFF2-40B4-BE49-F238E27FC236}">
                <a16:creationId xmlns:a16="http://schemas.microsoft.com/office/drawing/2014/main" id="{38D418C8-1106-A155-9D13-6C457E4D7146}"/>
              </a:ext>
            </a:extLst>
          </p:cNvPr>
          <p:cNvSpPr/>
          <p:nvPr/>
        </p:nvSpPr>
        <p:spPr>
          <a:xfrm>
            <a:off x="1215892" y="4579495"/>
            <a:ext cx="2614095" cy="23984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EC2DBB-376C-AE82-AFD9-E5722B53D2C2}"/>
              </a:ext>
            </a:extLst>
          </p:cNvPr>
          <p:cNvSpPr txBox="1"/>
          <p:nvPr/>
        </p:nvSpPr>
        <p:spPr>
          <a:xfrm>
            <a:off x="4120422" y="4376250"/>
            <a:ext cx="27675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CN" altLang="zh-CN" sz="1200" dirty="0"/>
              <a:t>2018: </a:t>
            </a:r>
            <a:r>
              <a:rPr lang="en-US" altLang="zh-CN" sz="1200" b="1" dirty="0"/>
              <a:t>31</a:t>
            </a:r>
            <a:r>
              <a:rPr lang="zh-CN" altLang="zh-CN" sz="1200" b="1" dirty="0"/>
              <a:t>%</a:t>
            </a:r>
            <a:r>
              <a:rPr lang="zh-CN" altLang="zh-CN" sz="1200" dirty="0"/>
              <a:t> </a:t>
            </a:r>
          </a:p>
          <a:p>
            <a:pPr lvl="0"/>
            <a:r>
              <a:rPr lang="zh-CN" altLang="zh-CN" sz="1200" dirty="0"/>
              <a:t>2023: </a:t>
            </a:r>
            <a:r>
              <a:rPr lang="en-US" altLang="zh-CN" sz="1200" b="1" dirty="0"/>
              <a:t>40</a:t>
            </a:r>
            <a:r>
              <a:rPr lang="zh-CN" altLang="zh-CN" sz="1200" b="1" dirty="0"/>
              <a:t>%</a:t>
            </a:r>
            <a:r>
              <a:rPr lang="zh-CN" altLang="zh-CN" sz="1200" dirty="0"/>
              <a:t> </a:t>
            </a:r>
          </a:p>
          <a:p>
            <a:pPr lvl="0"/>
            <a:r>
              <a:rPr lang="zh-CN" altLang="zh-CN" sz="1200" dirty="0"/>
              <a:t>Change: </a:t>
            </a:r>
            <a:r>
              <a:rPr lang="zh-CN" altLang="zh-CN" sz="1200" b="1" dirty="0"/>
              <a:t>+</a:t>
            </a:r>
            <a:r>
              <a:rPr lang="en-US" altLang="zh-CN" sz="1200" b="1" dirty="0"/>
              <a:t>9 </a:t>
            </a:r>
            <a:r>
              <a:rPr lang="zh-CN" altLang="zh-CN" sz="1200" b="1" dirty="0"/>
              <a:t>percentage points</a:t>
            </a:r>
            <a:r>
              <a:rPr lang="zh-CN" altLang="zh-CN" sz="1200" dirty="0"/>
              <a:t> 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6B795A6-D9E0-AE4C-83D4-3832636DCA90}"/>
              </a:ext>
            </a:extLst>
          </p:cNvPr>
          <p:cNvSpPr txBox="1"/>
          <p:nvPr/>
        </p:nvSpPr>
        <p:spPr>
          <a:xfrm>
            <a:off x="1032447" y="6172081"/>
            <a:ext cx="79916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Reference: https://www.trillianthealth.com/market-research/studies/changes-in-coding-intensity-suggest-upcoding</a:t>
            </a:r>
            <a:endParaRPr lang="zh-CN" altLang="en-US" sz="1200" dirty="0"/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A24E5576-76E4-6494-9D5A-0AB497780980}"/>
              </a:ext>
            </a:extLst>
          </p:cNvPr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C25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</a:t>
            </a:r>
            <a:endParaRPr lang="en-US" sz="2500" dirty="0"/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EBB179EE-CC83-607A-C251-B4FD632A0CFD}"/>
              </a:ext>
            </a:extLst>
          </p:cNvPr>
          <p:cNvSpPr/>
          <p:nvPr/>
        </p:nvSpPr>
        <p:spPr>
          <a:xfrm>
            <a:off x="530352" y="795528"/>
            <a:ext cx="1130438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zh-CN" sz="1050" dirty="0"/>
              <a:t>some of the other large increases are easier to reconcile with demographic change.</a:t>
            </a:r>
            <a:r>
              <a:rPr lang="en-US" altLang="zh-CN" sz="1050" dirty="0"/>
              <a:t> Some don’t.</a:t>
            </a:r>
          </a:p>
        </p:txBody>
      </p:sp>
    </p:spTree>
    <p:extLst>
      <p:ext uri="{BB962C8B-B14F-4D97-AF65-F5344CB8AC3E}">
        <p14:creationId xmlns:p14="http://schemas.microsoft.com/office/powerpoint/2010/main" val="1257880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D3ACBA-CBA3-2EDA-43FB-8AEE1142163C}"/>
              </a:ext>
            </a:extLst>
          </p:cNvPr>
          <p:cNvSpPr txBox="1"/>
          <p:nvPr/>
        </p:nvSpPr>
        <p:spPr>
          <a:xfrm>
            <a:off x="444137" y="31423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dirty="0"/>
              <a:t>Training vs. production → Skew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dirty="0"/>
              <a:t>Production over time → Drift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dirty="0"/>
              <a:t>Feature values → Feature skew/drift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dirty="0"/>
              <a:t>SHAP contributions → Feature attribution skew/drift</a:t>
            </a:r>
          </a:p>
        </p:txBody>
      </p:sp>
    </p:spTree>
    <p:extLst>
      <p:ext uri="{BB962C8B-B14F-4D97-AF65-F5344CB8AC3E}">
        <p14:creationId xmlns:p14="http://schemas.microsoft.com/office/powerpoint/2010/main" val="3946873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43574</TotalTime>
  <Words>499</Words>
  <Application>Microsoft Office PowerPoint</Application>
  <PresentationFormat>宽屏</PresentationFormat>
  <Paragraphs>41</Paragraphs>
  <Slides>9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2" baseType="lpstr">
      <vt:lpstr>Aptos Display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Pipeline Project</dc:title>
  <dc:subject>Machine Learning Pipeline Portfolio Presentation</dc:subject>
  <dc:creator>OpenAI</dc:creator>
  <cp:lastModifiedBy>Leon Qiu</cp:lastModifiedBy>
  <cp:revision>39</cp:revision>
  <dcterms:created xsi:type="dcterms:W3CDTF">2026-09-10T19:16:08Z</dcterms:created>
  <dcterms:modified xsi:type="dcterms:W3CDTF">2026-10-27T20:19:13Z</dcterms:modified>
</cp:coreProperties>
</file>